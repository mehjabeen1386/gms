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Inter" charset="-122" pitchFamily="34"/>
      <p:regular r:id="rId19"/>
    </p:embeddedFont>
    <p:embeddedFont>
      <p:font typeface="Outfit" charset="-122" pitchFamily="34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cover-accent-block"/>
          <p:cNvSpPr/>
          <p:nvPr/>
        </p:nvSpPr>
        <p:spPr>
          <a:xfrm>
            <a:off x="12623800" y="1955800"/>
            <a:ext cx="1879600" cy="1879600"/>
          </a:xfrm>
          <a:prstGeom prst="roundRect">
            <a:avLst>
              <a:gd name="adj" fmla="val 16216"/>
            </a:avLst>
          </a:prstGeom>
          <a:solidFill>
            <a:srgbClr val="06B6D4">
              <a:alpha val="13000"/>
            </a:srgbClr>
          </a:solidFill>
          <a:ln/>
        </p:spPr>
      </p:sp>
      <p:sp>
        <p:nvSpPr>
          <p:cNvPr id="4" name="cover-accent-outline"/>
          <p:cNvSpPr/>
          <p:nvPr/>
        </p:nvSpPr>
        <p:spPr>
          <a:xfrm>
            <a:off x="13131800" y="2463800"/>
            <a:ext cx="1879600" cy="1879600"/>
          </a:xfrm>
          <a:prstGeom prst="roundRect">
            <a:avLst>
              <a:gd name="adj" fmla="val 16216"/>
            </a:avLst>
          </a:prstGeom>
          <a:ln w="25400">
            <a:solidFill>
              <a:srgbClr val="14B8A6"/>
            </a:solidFill>
            <a:prstDash val="solid"/>
          </a:ln>
        </p:spPr>
      </p:sp>
      <p:sp>
        <p:nvSpPr>
          <p:cNvPr id="5" name="cover-kicker"/>
          <p:cNvSpPr/>
          <p:nvPr/>
        </p:nvSpPr>
        <p:spPr>
          <a:xfrm>
            <a:off x="1016000" y="1803400"/>
            <a:ext cx="558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PROJECT PRESENTATION</a:t>
            </a:r>
            <a:endParaRPr lang="en-US" sz="1600" dirty="0"/>
          </a:p>
        </p:txBody>
      </p:sp>
      <p:sp>
        <p:nvSpPr>
          <p:cNvPr id="6" name="cover-title"/>
          <p:cNvSpPr/>
          <p:nvPr/>
        </p:nvSpPr>
        <p:spPr>
          <a:xfrm>
            <a:off x="990600" y="2667000"/>
            <a:ext cx="11049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altLang="en-US" sz="50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Powered Garments Contractor &amp; Worker Management System</a:t>
            </a:r>
            <a:endParaRPr lang="en-US" sz="5000" dirty="0"/>
          </a:p>
        </p:txBody>
      </p:sp>
      <p:sp>
        <p:nvSpPr>
          <p:cNvPr id="7" name="cover-subtitle"/>
          <p:cNvSpPr/>
          <p:nvPr/>
        </p:nvSpPr>
        <p:spPr>
          <a:xfrm>
            <a:off x="1041400" y="4965700"/>
            <a:ext cx="825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digital system for garment operations, workforce records, and AI-assisted planning</a:t>
            </a:r>
            <a:endParaRPr lang="en-US" sz="2100" dirty="0"/>
          </a:p>
        </p:txBody>
      </p:sp>
      <p:sp>
        <p:nvSpPr>
          <p:cNvPr id="8" name="cover-detail-line"/>
          <p:cNvSpPr/>
          <p:nvPr/>
        </p:nvSpPr>
        <p:spPr>
          <a:xfrm>
            <a:off x="1016000" y="5715000"/>
            <a:ext cx="6413500" cy="9144"/>
          </a:xfrm>
          <a:prstGeom prst="line">
            <a:avLst/>
          </a:prstGeom>
          <a:ln w="25400">
            <a:solidFill>
              <a:srgbClr val="334155"/>
            </a:solidFill>
            <a:prstDash val="solid"/>
          </a:ln>
        </p:spPr>
      </p:sp>
      <p:sp>
        <p:nvSpPr>
          <p:cNvPr id="9" name="cover-presenter"/>
          <p:cNvSpPr/>
          <p:nvPr/>
        </p:nvSpPr>
        <p:spPr>
          <a:xfrm>
            <a:off x="1016000" y="6019800"/>
            <a:ext cx="800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Mehjabeen Ansari</a:t>
            </a:r>
            <a:r>
              <a:rPr lang="en-US" altLang="en-US" sz="2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Roll No. 6  ·  BSc CS</a:t>
            </a:r>
            <a:endParaRPr lang="en-US" sz="2000" dirty="0"/>
          </a:p>
        </p:txBody>
      </p:sp>
      <p:sp>
        <p:nvSpPr>
          <p:cNvPr id="10" name="cover-footer"/>
          <p:cNvSpPr/>
          <p:nvPr/>
        </p:nvSpPr>
        <p:spPr>
          <a:xfrm>
            <a:off x="1016000" y="8064500"/>
            <a:ext cx="635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91A8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SMART OPERATIONS PLATFORM</a:t>
            </a:r>
            <a:endParaRPr lang="en-US" sz="1400" dirty="0"/>
          </a:p>
        </p:txBody>
      </p:sp>
      <p:sp>
        <p:nvSpPr>
          <p:cNvPr id="11" name="cover-number"/>
          <p:cNvSpPr/>
          <p:nvPr/>
        </p:nvSpPr>
        <p:spPr>
          <a:xfrm>
            <a:off x="14782800" y="8064500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ed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need-kicker"/>
          <p:cNvSpPr/>
          <p:nvPr/>
        </p:nvSpPr>
        <p:spPr>
          <a:xfrm>
            <a:off x="1016000" y="12446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NEED</a:t>
            </a:r>
            <a:endParaRPr lang="en-US" sz="1500" dirty="0"/>
          </a:p>
        </p:txBody>
      </p:sp>
      <p:sp>
        <p:nvSpPr>
          <p:cNvPr id="4" name="need-title"/>
          <p:cNvSpPr/>
          <p:nvPr/>
        </p:nvSpPr>
        <p:spPr>
          <a:xfrm>
            <a:off x="1016000" y="1651000"/>
            <a:ext cx="1206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scattered factory records to one connected system</a:t>
            </a:r>
            <a:endParaRPr lang="en-US" sz="3600" dirty="0"/>
          </a:p>
        </p:txBody>
      </p:sp>
      <p:sp>
        <p:nvSpPr>
          <p:cNvPr id="5" name="problem-panel"/>
          <p:cNvSpPr/>
          <p:nvPr/>
        </p:nvSpPr>
        <p:spPr>
          <a:xfrm>
            <a:off x="1016000" y="2667000"/>
            <a:ext cx="6096000" cy="44450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problem-motif"/>
          <p:cNvSpPr/>
          <p:nvPr/>
        </p:nvSpPr>
        <p:spPr>
          <a:xfrm>
            <a:off x="1016000" y="2667000"/>
            <a:ext cx="6096000" cy="63500"/>
          </a:xfrm>
          <a:prstGeom prst="rect">
            <a:avLst/>
          </a:prstGeom>
          <a:solidFill>
            <a:srgbClr val="FF765F"/>
          </a:solidFill>
          <a:ln/>
        </p:spPr>
      </p:sp>
      <p:pic>
        <p:nvPicPr>
          <p:cNvPr id="7" name="problem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0" y="3238500"/>
            <a:ext cx="482600" cy="482600"/>
          </a:xfrm>
          <a:prstGeom prst="rect">
            <a:avLst/>
          </a:prstGeom>
        </p:spPr>
      </p:pic>
      <p:sp>
        <p:nvSpPr>
          <p:cNvPr id="8" name="problem-heading"/>
          <p:cNvSpPr/>
          <p:nvPr/>
        </p:nvSpPr>
        <p:spPr>
          <a:xfrm>
            <a:off x="1498600" y="40005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Traditional challenge</a:t>
            </a:r>
            <a:endParaRPr lang="en-US" sz="2600" dirty="0"/>
          </a:p>
        </p:txBody>
      </p:sp>
      <p:sp>
        <p:nvSpPr>
          <p:cNvPr id="9" name="problem-copy"/>
          <p:cNvSpPr/>
          <p:nvPr/>
        </p:nvSpPr>
        <p:spPr>
          <a:xfrm>
            <a:off x="1498600" y="4648200"/>
            <a:ext cx="4635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paper records for buyers, fabric, orders, and workers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updates can create delays and calculation mistakes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production information is harder to review quickly</a:t>
            </a:r>
            <a:endParaRPr lang="en-US" sz="1900" dirty="0"/>
          </a:p>
        </p:txBody>
      </p:sp>
      <p:sp>
        <p:nvSpPr>
          <p:cNvPr id="10" name="solution-panel"/>
          <p:cNvSpPr/>
          <p:nvPr/>
        </p:nvSpPr>
        <p:spPr>
          <a:xfrm>
            <a:off x="9144000" y="2667000"/>
            <a:ext cx="6096000" cy="4445000"/>
          </a:xfrm>
          <a:prstGeom prst="roundRect">
            <a:avLst>
              <a:gd name="adj" fmla="val 514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olution-motif"/>
          <p:cNvSpPr/>
          <p:nvPr/>
        </p:nvSpPr>
        <p:spPr>
          <a:xfrm>
            <a:off x="9144000" y="2667000"/>
            <a:ext cx="6096000" cy="635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2" name="solution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600" y="3238500"/>
            <a:ext cx="482600" cy="482600"/>
          </a:xfrm>
          <a:prstGeom prst="rect">
            <a:avLst/>
          </a:prstGeom>
        </p:spPr>
      </p:pic>
      <p:sp>
        <p:nvSpPr>
          <p:cNvPr id="13" name="solution-heading"/>
          <p:cNvSpPr/>
          <p:nvPr/>
        </p:nvSpPr>
        <p:spPr>
          <a:xfrm>
            <a:off x="9626600" y="4000500"/>
            <a:ext cx="457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 solution</a:t>
            </a:r>
            <a:endParaRPr lang="en-US" sz="2600" dirty="0"/>
          </a:p>
        </p:txBody>
      </p:sp>
      <p:sp>
        <p:nvSpPr>
          <p:cNvPr id="14" name="solution-copy"/>
          <p:cNvSpPr/>
          <p:nvPr/>
        </p:nvSpPr>
        <p:spPr>
          <a:xfrm>
            <a:off x="9626600" y="4648200"/>
            <a:ext cx="4635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digital workspace for daily garment operations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records for material, work progress, and piece-rate payment</a:t>
            </a:r>
            <a:endParaRPr lang="en-US" sz="1900" dirty="0"/>
          </a:p>
          <a:p>
            <a:pPr algn="l" marL="301625" indent="-301625">
              <a:lnSpc>
                <a:spcPts val="275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guidance supports planning and waste reduction</a:t>
            </a:r>
            <a:endParaRPr lang="en-US" sz="1900" dirty="0"/>
          </a:p>
        </p:txBody>
      </p:sp>
      <p:sp>
        <p:nvSpPr>
          <p:cNvPr id="15" name="need-arrow"/>
          <p:cNvSpPr/>
          <p:nvPr/>
        </p:nvSpPr>
        <p:spPr>
          <a:xfrm>
            <a:off x="7620000" y="4521200"/>
            <a:ext cx="990600" cy="66040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need-footer"/>
          <p:cNvSpPr/>
          <p:nvPr/>
        </p:nvSpPr>
        <p:spPr>
          <a:xfrm>
            <a:off x="1016000" y="8178800"/>
            <a:ext cx="584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PROBLEM → DIGITAL SOLUTION</a:t>
            </a:r>
            <a:endParaRPr lang="en-US" sz="1400" dirty="0"/>
          </a:p>
        </p:txBody>
      </p:sp>
      <p:sp>
        <p:nvSpPr>
          <p:cNvPr id="17" name="need-number"/>
          <p:cNvSpPr/>
          <p:nvPr/>
        </p:nvSpPr>
        <p:spPr>
          <a:xfrm>
            <a:off x="14782800" y="8178800"/>
            <a:ext cx="685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architecture-kicker"/>
          <p:cNvSpPr/>
          <p:nvPr/>
        </p:nvSpPr>
        <p:spPr>
          <a:xfrm>
            <a:off x="1016000" y="12446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SYSTEM ARCHITECTURE</a:t>
            </a:r>
            <a:endParaRPr lang="en-US" sz="1500" dirty="0"/>
          </a:p>
        </p:txBody>
      </p:sp>
      <p:sp>
        <p:nvSpPr>
          <p:cNvPr id="4" name="architecture-title"/>
          <p:cNvSpPr/>
          <p:nvPr/>
        </p:nvSpPr>
        <p:spPr>
          <a:xfrm>
            <a:off x="1016000" y="1651000"/>
            <a:ext cx="132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MERN stack for a connected garment ERP</a:t>
            </a:r>
            <a:endParaRPr lang="en-US" sz="3600" dirty="0"/>
          </a:p>
        </p:txBody>
      </p:sp>
      <p:sp>
        <p:nvSpPr>
          <p:cNvPr id="5" name="architecture-subtitle"/>
          <p:cNvSpPr/>
          <p:nvPr/>
        </p:nvSpPr>
        <p:spPr>
          <a:xfrm>
            <a:off x="1016000" y="2260600"/>
            <a:ext cx="1270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React, Node.js, Express, and MongoDB work together to manage factory information in one web application.</a:t>
            </a:r>
            <a:endParaRPr lang="en-US" sz="1800" dirty="0"/>
          </a:p>
        </p:txBody>
      </p:sp>
      <p:sp>
        <p:nvSpPr>
          <p:cNvPr id="6" name="frontend-card"/>
          <p:cNvSpPr/>
          <p:nvPr/>
        </p:nvSpPr>
        <p:spPr>
          <a:xfrm>
            <a:off x="1016000" y="3149600"/>
            <a:ext cx="4191000" cy="2260600"/>
          </a:xfrm>
          <a:prstGeom prst="roundRect">
            <a:avLst>
              <a:gd name="adj" fmla="val 89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frontend-line"/>
          <p:cNvSpPr/>
          <p:nvPr/>
        </p:nvSpPr>
        <p:spPr>
          <a:xfrm>
            <a:off x="1016000" y="3149600"/>
            <a:ext cx="4191000" cy="6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8" name="frontend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0" y="3530600"/>
            <a:ext cx="533400" cy="533400"/>
          </a:xfrm>
          <a:prstGeom prst="rect">
            <a:avLst/>
          </a:prstGeom>
        </p:spPr>
      </p:pic>
      <p:sp>
        <p:nvSpPr>
          <p:cNvPr id="9" name="frontend-title"/>
          <p:cNvSpPr/>
          <p:nvPr/>
        </p:nvSpPr>
        <p:spPr>
          <a:xfrm>
            <a:off x="2209800" y="34925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Frontend</a:t>
            </a:r>
            <a:endParaRPr lang="en-US" sz="2300" dirty="0"/>
          </a:p>
        </p:txBody>
      </p:sp>
      <p:sp>
        <p:nvSpPr>
          <p:cNvPr id="10" name="frontend-stack"/>
          <p:cNvSpPr/>
          <p:nvPr/>
        </p:nvSpPr>
        <p:spPr>
          <a:xfrm>
            <a:off x="1422400" y="4318000"/>
            <a:ext cx="317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+ Tailwind CSS</a:t>
            </a:r>
            <a:endParaRPr lang="en-US" sz="1800" dirty="0"/>
          </a:p>
        </p:txBody>
      </p:sp>
      <p:sp>
        <p:nvSpPr>
          <p:cNvPr id="11" name="frontend-copy"/>
          <p:cNvSpPr/>
          <p:nvPr/>
        </p:nvSpPr>
        <p:spPr>
          <a:xfrm>
            <a:off x="1422400" y="48133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the responsive dashboard and user interface.</a:t>
            </a:r>
            <a:endParaRPr lang="en-US" sz="1400" dirty="0"/>
          </a:p>
        </p:txBody>
      </p:sp>
      <p:sp>
        <p:nvSpPr>
          <p:cNvPr id="12" name="backend-card"/>
          <p:cNvSpPr/>
          <p:nvPr/>
        </p:nvSpPr>
        <p:spPr>
          <a:xfrm>
            <a:off x="6032500" y="3149600"/>
            <a:ext cx="4191000" cy="2260600"/>
          </a:xfrm>
          <a:prstGeom prst="roundRect">
            <a:avLst>
              <a:gd name="adj" fmla="val 89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backend-line"/>
          <p:cNvSpPr/>
          <p:nvPr/>
        </p:nvSpPr>
        <p:spPr>
          <a:xfrm>
            <a:off x="6032500" y="3149600"/>
            <a:ext cx="4191000" cy="635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4" name="backend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530600"/>
            <a:ext cx="533400" cy="533400"/>
          </a:xfrm>
          <a:prstGeom prst="rect">
            <a:avLst/>
          </a:prstGeom>
        </p:spPr>
      </p:pic>
      <p:sp>
        <p:nvSpPr>
          <p:cNvPr id="15" name="backend-title"/>
          <p:cNvSpPr/>
          <p:nvPr/>
        </p:nvSpPr>
        <p:spPr>
          <a:xfrm>
            <a:off x="7226300" y="34925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Backend API</a:t>
            </a:r>
            <a:endParaRPr lang="en-US" sz="2300" dirty="0"/>
          </a:p>
        </p:txBody>
      </p:sp>
      <p:sp>
        <p:nvSpPr>
          <p:cNvPr id="16" name="backend-stack"/>
          <p:cNvSpPr/>
          <p:nvPr/>
        </p:nvSpPr>
        <p:spPr>
          <a:xfrm>
            <a:off x="6438900" y="4318000"/>
            <a:ext cx="317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+ Express.js</a:t>
            </a:r>
            <a:endParaRPr lang="en-US" sz="1800" dirty="0"/>
          </a:p>
        </p:txBody>
      </p:sp>
      <p:sp>
        <p:nvSpPr>
          <p:cNvPr id="17" name="backend-copy"/>
          <p:cNvSpPr/>
          <p:nvPr/>
        </p:nvSpPr>
        <p:spPr>
          <a:xfrm>
            <a:off x="6438900" y="48133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business logic, orders, and worker records.</a:t>
            </a:r>
            <a:endParaRPr lang="en-US" sz="1400" dirty="0"/>
          </a:p>
        </p:txBody>
      </p:sp>
      <p:sp>
        <p:nvSpPr>
          <p:cNvPr id="18" name="database-card"/>
          <p:cNvSpPr/>
          <p:nvPr/>
        </p:nvSpPr>
        <p:spPr>
          <a:xfrm>
            <a:off x="11049000" y="3149600"/>
            <a:ext cx="4191000" cy="2260600"/>
          </a:xfrm>
          <a:prstGeom prst="roundRect">
            <a:avLst>
              <a:gd name="adj" fmla="val 898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database-line"/>
          <p:cNvSpPr/>
          <p:nvPr/>
        </p:nvSpPr>
        <p:spPr>
          <a:xfrm>
            <a:off x="11049000" y="3149600"/>
            <a:ext cx="4191000" cy="63500"/>
          </a:xfrm>
          <a:prstGeom prst="rect">
            <a:avLst/>
          </a:prstGeom>
          <a:solidFill>
            <a:srgbClr val="65A30D"/>
          </a:solidFill>
          <a:ln/>
        </p:spPr>
      </p:sp>
      <p:pic>
        <p:nvPicPr>
          <p:cNvPr id="20" name="databas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0" y="3530600"/>
            <a:ext cx="533400" cy="533400"/>
          </a:xfrm>
          <a:prstGeom prst="rect">
            <a:avLst/>
          </a:prstGeom>
        </p:spPr>
      </p:pic>
      <p:sp>
        <p:nvSpPr>
          <p:cNvPr id="21" name="database-title"/>
          <p:cNvSpPr/>
          <p:nvPr/>
        </p:nvSpPr>
        <p:spPr>
          <a:xfrm>
            <a:off x="12242800" y="34925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Database</a:t>
            </a:r>
            <a:endParaRPr lang="en-US" sz="2300" dirty="0"/>
          </a:p>
        </p:txBody>
      </p:sp>
      <p:sp>
        <p:nvSpPr>
          <p:cNvPr id="22" name="database-stack"/>
          <p:cNvSpPr/>
          <p:nvPr/>
        </p:nvSpPr>
        <p:spPr>
          <a:xfrm>
            <a:off x="11455400" y="4318000"/>
            <a:ext cx="317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1800" dirty="0"/>
          </a:p>
        </p:txBody>
      </p:sp>
      <p:sp>
        <p:nvSpPr>
          <p:cNvPr id="23" name="database-copy"/>
          <p:cNvSpPr/>
          <p:nvPr/>
        </p:nvSpPr>
        <p:spPr>
          <a:xfrm>
            <a:off x="11455400" y="48133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buyers, inventory, orders, workers, and reports.</a:t>
            </a:r>
            <a:endParaRPr lang="en-US" sz="1400" dirty="0"/>
          </a:p>
        </p:txBody>
      </p:sp>
      <p:sp>
        <p:nvSpPr>
          <p:cNvPr id="24" name="frontend-arrow"/>
          <p:cNvSpPr/>
          <p:nvPr/>
        </p:nvSpPr>
        <p:spPr>
          <a:xfrm>
            <a:off x="5207000" y="4279900"/>
            <a:ext cx="825500" cy="9144"/>
          </a:xfrm>
          <a:prstGeom prst="line">
            <a:avLst/>
          </a:prstGeom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5" name="backend-arrow"/>
          <p:cNvSpPr/>
          <p:nvPr/>
        </p:nvSpPr>
        <p:spPr>
          <a:xfrm>
            <a:off x="10223500" y="4279900"/>
            <a:ext cx="825500" cy="9144"/>
          </a:xfrm>
          <a:prstGeom prst="line">
            <a:avLst/>
          </a:prstGeom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6" name="typescript-strip"/>
          <p:cNvSpPr/>
          <p:nvPr/>
        </p:nvSpPr>
        <p:spPr>
          <a:xfrm>
            <a:off x="1016000" y="5816600"/>
            <a:ext cx="14224000" cy="660400"/>
          </a:xfrm>
          <a:prstGeom prst="roundRect">
            <a:avLst>
              <a:gd name="adj" fmla="val 25000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27" name="typescrip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994400"/>
            <a:ext cx="304800" cy="304800"/>
          </a:xfrm>
          <a:prstGeom prst="rect">
            <a:avLst/>
          </a:prstGeom>
        </p:spPr>
      </p:pic>
      <p:sp>
        <p:nvSpPr>
          <p:cNvPr id="28" name="typescript-copy"/>
          <p:cNvSpPr/>
          <p:nvPr/>
        </p:nvSpPr>
        <p:spPr>
          <a:xfrm>
            <a:off x="1930400" y="5969000"/>
            <a:ext cx="1270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r>
              <a:rPr lang="en-US" altLang="en-US" sz="1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used across the project to make data and code more reliable.</a:t>
            </a:r>
            <a:endParaRPr lang="en-US" sz="1700" dirty="0"/>
          </a:p>
        </p:txBody>
      </p:sp>
      <p:sp>
        <p:nvSpPr>
          <p:cNvPr id="29" name="tools-panel"/>
          <p:cNvSpPr/>
          <p:nvPr/>
        </p:nvSpPr>
        <p:spPr>
          <a:xfrm>
            <a:off x="1016000" y="6807200"/>
            <a:ext cx="14224000" cy="939800"/>
          </a:xfrm>
          <a:prstGeom prst="roundRect">
            <a:avLst>
              <a:gd name="adj" fmla="val 1891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ools-label"/>
          <p:cNvSpPr/>
          <p:nvPr/>
        </p:nvSpPr>
        <p:spPr>
          <a:xfrm>
            <a:off x="1371600" y="69850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TOOLS</a:t>
            </a:r>
            <a:endParaRPr lang="en-US" sz="1400" dirty="0"/>
          </a:p>
        </p:txBody>
      </p:sp>
      <p:pic>
        <p:nvPicPr>
          <p:cNvPr id="31" name="vscode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7023100"/>
            <a:ext cx="304800" cy="304800"/>
          </a:xfrm>
          <a:prstGeom prst="rect">
            <a:avLst/>
          </a:prstGeom>
        </p:spPr>
      </p:pic>
      <p:sp>
        <p:nvSpPr>
          <p:cNvPr id="32" name="vscode-text"/>
          <p:cNvSpPr/>
          <p:nvPr/>
        </p:nvSpPr>
        <p:spPr>
          <a:xfrm>
            <a:off x="4165600" y="69977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700" dirty="0"/>
          </a:p>
        </p:txBody>
      </p:sp>
      <p:sp>
        <p:nvSpPr>
          <p:cNvPr id="33" name="tool-divider-one"/>
          <p:cNvSpPr/>
          <p:nvPr/>
        </p:nvSpPr>
        <p:spPr>
          <a:xfrm>
            <a:off x="6248400" y="6985000"/>
            <a:ext cx="9144" cy="4318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34" name="jira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800" y="7023100"/>
            <a:ext cx="304800" cy="304800"/>
          </a:xfrm>
          <a:prstGeom prst="rect">
            <a:avLst/>
          </a:prstGeom>
        </p:spPr>
      </p:pic>
      <p:sp>
        <p:nvSpPr>
          <p:cNvPr id="35" name="jira-text"/>
          <p:cNvSpPr/>
          <p:nvPr/>
        </p:nvSpPr>
        <p:spPr>
          <a:xfrm>
            <a:off x="7340600" y="6997700"/>
            <a:ext cx="304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Jira Kanban Board</a:t>
            </a:r>
            <a:endParaRPr lang="en-US" sz="1700" dirty="0"/>
          </a:p>
        </p:txBody>
      </p:sp>
      <p:sp>
        <p:nvSpPr>
          <p:cNvPr id="36" name="tool-divider-two"/>
          <p:cNvSpPr/>
          <p:nvPr/>
        </p:nvSpPr>
        <p:spPr>
          <a:xfrm>
            <a:off x="10744200" y="6985000"/>
            <a:ext cx="9144" cy="431800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37" name="github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0" y="7023100"/>
            <a:ext cx="304800" cy="304800"/>
          </a:xfrm>
          <a:prstGeom prst="rect">
            <a:avLst/>
          </a:prstGeom>
        </p:spPr>
      </p:pic>
      <p:sp>
        <p:nvSpPr>
          <p:cNvPr id="38" name="github-text"/>
          <p:cNvSpPr/>
          <p:nvPr/>
        </p:nvSpPr>
        <p:spPr>
          <a:xfrm>
            <a:off x="11861800" y="6997700"/>
            <a:ext cx="203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1700" dirty="0"/>
          </a:p>
        </p:txBody>
      </p:sp>
      <p:sp>
        <p:nvSpPr>
          <p:cNvPr id="39" name="architecture-footer"/>
          <p:cNvSpPr/>
          <p:nvPr/>
        </p:nvSpPr>
        <p:spPr>
          <a:xfrm>
            <a:off x="1016000" y="84074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MERN + TYPESCRIPT + TAILWIND CSS</a:t>
            </a:r>
            <a:endParaRPr lang="en-US" sz="1400" dirty="0"/>
          </a:p>
        </p:txBody>
      </p:sp>
      <p:sp>
        <p:nvSpPr>
          <p:cNvPr id="40" name="architecture-number"/>
          <p:cNvSpPr/>
          <p:nvPr/>
        </p:nvSpPr>
        <p:spPr>
          <a:xfrm>
            <a:off x="14782800" y="8407400"/>
            <a:ext cx="685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shbuyers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dashbuyers-kicker"/>
          <p:cNvSpPr/>
          <p:nvPr/>
        </p:nvSpPr>
        <p:spPr>
          <a:xfrm>
            <a:off x="965200" y="12700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OVERVIEW</a:t>
            </a:r>
            <a:endParaRPr lang="en-US" sz="1500" dirty="0"/>
          </a:p>
        </p:txBody>
      </p:sp>
      <p:sp>
        <p:nvSpPr>
          <p:cNvPr id="4" name="dashbuyers-title"/>
          <p:cNvSpPr/>
          <p:nvPr/>
        </p:nvSpPr>
        <p:spPr>
          <a:xfrm>
            <a:off x="965200" y="1676400"/>
            <a:ext cx="4318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altLang="en-US" sz="3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Dashboard gives a quick factory view</a:t>
            </a:r>
            <a:endParaRPr lang="en-US" sz="3400" dirty="0"/>
          </a:p>
        </p:txBody>
      </p:sp>
      <p:sp>
        <p:nvSpPr>
          <p:cNvPr id="5" name="dashbuyers-intro"/>
          <p:cNvSpPr/>
          <p:nvPr/>
        </p:nvSpPr>
        <p:spPr>
          <a:xfrm>
            <a:off x="965200" y="3340100"/>
            <a:ext cx="4038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contractor sees the work situation first, then moves to organised buyer records.</a:t>
            </a:r>
            <a:endParaRPr lang="en-US" sz="1800" dirty="0"/>
          </a:p>
        </p:txBody>
      </p:sp>
      <p:sp>
        <p:nvSpPr>
          <p:cNvPr id="6" name="dashbuyers-item-one"/>
          <p:cNvSpPr/>
          <p:nvPr/>
        </p:nvSpPr>
        <p:spPr>
          <a:xfrm>
            <a:off x="965200" y="4546600"/>
            <a:ext cx="4140200" cy="1270000"/>
          </a:xfrm>
          <a:prstGeom prst="roundRect">
            <a:avLst>
              <a:gd name="adj" fmla="val 14000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sp>
        <p:nvSpPr>
          <p:cNvPr id="7" name="dashbuyers-item-one-label"/>
          <p:cNvSpPr/>
          <p:nvPr/>
        </p:nvSpPr>
        <p:spPr>
          <a:xfrm>
            <a:off x="1219200" y="48006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DASHBOARD</a:t>
            </a:r>
            <a:endParaRPr lang="en-US" sz="1400" dirty="0"/>
          </a:p>
        </p:txBody>
      </p:sp>
      <p:sp>
        <p:nvSpPr>
          <p:cNvPr id="8" name="dashbuyers-item-one-copy"/>
          <p:cNvSpPr/>
          <p:nvPr/>
        </p:nvSpPr>
        <p:spPr>
          <a:xfrm>
            <a:off x="1219200" y="51689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screen for operations, stock, workforce, and AI guidance.</a:t>
            </a:r>
            <a:endParaRPr lang="en-US" sz="1600" dirty="0"/>
          </a:p>
        </p:txBody>
      </p:sp>
      <p:sp>
        <p:nvSpPr>
          <p:cNvPr id="9" name="dashbuyers-item-two"/>
          <p:cNvSpPr/>
          <p:nvPr/>
        </p:nvSpPr>
        <p:spPr>
          <a:xfrm>
            <a:off x="965200" y="6057900"/>
            <a:ext cx="4140200" cy="1270000"/>
          </a:xfrm>
          <a:prstGeom prst="roundRect">
            <a:avLst>
              <a:gd name="adj" fmla="val 14000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sp>
        <p:nvSpPr>
          <p:cNvPr id="10" name="dashbuyers-item-two-label"/>
          <p:cNvSpPr/>
          <p:nvPr/>
        </p:nvSpPr>
        <p:spPr>
          <a:xfrm>
            <a:off x="1219200" y="63119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BUYERS</a:t>
            </a:r>
            <a:endParaRPr lang="en-US" sz="1400" dirty="0"/>
          </a:p>
        </p:txBody>
      </p:sp>
      <p:sp>
        <p:nvSpPr>
          <p:cNvPr id="11" name="dashbuyers-item-two-copy"/>
          <p:cNvSpPr/>
          <p:nvPr/>
        </p:nvSpPr>
        <p:spPr>
          <a:xfrm>
            <a:off x="1219200" y="668020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Keeps clients, contacts, orders, and balances together.</a:t>
            </a:r>
            <a:endParaRPr lang="en-US" sz="1600" dirty="0"/>
          </a:p>
        </p:txBody>
      </p:sp>
      <p:sp>
        <p:nvSpPr>
          <p:cNvPr id="12" name="dashboard-frame"/>
          <p:cNvSpPr/>
          <p:nvPr/>
        </p:nvSpPr>
        <p:spPr>
          <a:xfrm>
            <a:off x="5715000" y="1422400"/>
            <a:ext cx="9525000" cy="312420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3" name="dashboard-shot" descr="preencoded.png">    </p:cNvPr>
          <p:cNvPicPr>
            <a:picLocks noChangeAspect="1"/>
          </p:cNvPicPr>
          <p:nvPr/>
        </p:nvPicPr>
        <p:blipFill>
          <a:blip r:embed="rId1"/>
          <a:srcRect l="-34783" r="-34783" t="0" b="0"/>
          <a:stretch/>
        </p:blipFill>
        <p:spPr>
          <a:xfrm>
            <a:off x="5867400" y="1574800"/>
            <a:ext cx="9220200" cy="2565400"/>
          </a:xfrm>
          <a:prstGeom prst="rect">
            <a:avLst/>
          </a:prstGeom>
        </p:spPr>
      </p:pic>
      <p:sp>
        <p:nvSpPr>
          <p:cNvPr id="14" name="dashboard-caption"/>
          <p:cNvSpPr/>
          <p:nvPr/>
        </p:nvSpPr>
        <p:spPr>
          <a:xfrm>
            <a:off x="5994400" y="4191000"/>
            <a:ext cx="8763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with an AI Operations Advisor for easy day-to-day decision support</a:t>
            </a:r>
            <a:endParaRPr lang="en-US" sz="1400" dirty="0"/>
          </a:p>
        </p:txBody>
      </p:sp>
      <p:sp>
        <p:nvSpPr>
          <p:cNvPr id="15" name="buyers-frame"/>
          <p:cNvSpPr/>
          <p:nvPr/>
        </p:nvSpPr>
        <p:spPr>
          <a:xfrm>
            <a:off x="5715000" y="4927600"/>
            <a:ext cx="9525000" cy="312420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6" name="buyers-shot" descr="preencoded.png">    </p:cNvPr>
          <p:cNvPicPr>
            <a:picLocks noChangeAspect="1"/>
          </p:cNvPicPr>
          <p:nvPr/>
        </p:nvPicPr>
        <p:blipFill>
          <a:blip r:embed="rId2"/>
          <a:srcRect l="-34898" r="-34898" t="0" b="0"/>
          <a:stretch/>
        </p:blipFill>
        <p:spPr>
          <a:xfrm>
            <a:off x="5867400" y="5080000"/>
            <a:ext cx="9220200" cy="2565400"/>
          </a:xfrm>
          <a:prstGeom prst="rect">
            <a:avLst/>
          </a:prstGeom>
        </p:spPr>
      </p:pic>
      <p:sp>
        <p:nvSpPr>
          <p:cNvPr id="17" name="buyers-caption"/>
          <p:cNvSpPr/>
          <p:nvPr/>
        </p:nvSpPr>
        <p:spPr>
          <a:xfrm>
            <a:off x="5994400" y="7696200"/>
            <a:ext cx="8763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directory keeps customer records structured and searchable</a:t>
            </a:r>
            <a:endParaRPr lang="en-US" sz="1400" dirty="0"/>
          </a:p>
        </p:txBody>
      </p:sp>
      <p:sp>
        <p:nvSpPr>
          <p:cNvPr id="18" name="dashbuyers-footer"/>
          <p:cNvSpPr/>
          <p:nvPr/>
        </p:nvSpPr>
        <p:spPr>
          <a:xfrm>
            <a:off x="965200" y="8407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DASHBOARD + BUYERS</a:t>
            </a:r>
            <a:endParaRPr lang="en-US" sz="1400" dirty="0"/>
          </a:p>
        </p:txBody>
      </p:sp>
      <p:sp>
        <p:nvSpPr>
          <p:cNvPr id="19" name="dashbuyers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entinventory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clientinventory-kicker"/>
          <p:cNvSpPr/>
          <p:nvPr/>
        </p:nvSpPr>
        <p:spPr>
          <a:xfrm>
            <a:off x="1016000" y="1270000"/>
            <a:ext cx="431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FACTORY RECORDS</a:t>
            </a:r>
            <a:endParaRPr lang="en-US" sz="1500" dirty="0"/>
          </a:p>
        </p:txBody>
      </p:sp>
      <p:sp>
        <p:nvSpPr>
          <p:cNvPr id="4" name="clientinventory-title"/>
          <p:cNvSpPr/>
          <p:nvPr/>
        </p:nvSpPr>
        <p:spPr>
          <a:xfrm>
            <a:off x="1016000" y="1676400"/>
            <a:ext cx="1244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Client entry and fabric inventory stay connected</a:t>
            </a:r>
            <a:endParaRPr lang="en-US" sz="3600" dirty="0"/>
          </a:p>
        </p:txBody>
      </p:sp>
      <p:sp>
        <p:nvSpPr>
          <p:cNvPr id="5" name="clientinventory-subtitle"/>
          <p:cNvSpPr/>
          <p:nvPr/>
        </p:nvSpPr>
        <p:spPr>
          <a:xfrm>
            <a:off x="1016000" y="2286000"/>
            <a:ext cx="1168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forms and ledgers reduce the chance of missing details during daily factory work.</a:t>
            </a:r>
            <a:endParaRPr lang="en-US" sz="1800" dirty="0"/>
          </a:p>
        </p:txBody>
      </p:sp>
      <p:sp>
        <p:nvSpPr>
          <p:cNvPr id="6" name="client-frame"/>
          <p:cNvSpPr/>
          <p:nvPr/>
        </p:nvSpPr>
        <p:spPr>
          <a:xfrm>
            <a:off x="1016000" y="2895600"/>
            <a:ext cx="4318000" cy="426720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client-shot" descr="preencoded.png">    </p:cNvPr>
          <p:cNvPicPr>
            <a:picLocks noChangeAspect="1"/>
          </p:cNvPicPr>
          <p:nvPr/>
        </p:nvPicPr>
        <p:blipFill>
          <a:blip r:embed="rId1"/>
          <a:srcRect l="-3026" r="-3026" t="0" b="0"/>
          <a:stretch/>
        </p:blipFill>
        <p:spPr>
          <a:xfrm>
            <a:off x="1193800" y="3073400"/>
            <a:ext cx="3962400" cy="3657600"/>
          </a:xfrm>
          <a:prstGeom prst="rect">
            <a:avLst/>
          </a:prstGeom>
        </p:spPr>
      </p:pic>
      <p:sp>
        <p:nvSpPr>
          <p:cNvPr id="8" name="client-caption"/>
          <p:cNvSpPr/>
          <p:nvPr/>
        </p:nvSpPr>
        <p:spPr>
          <a:xfrm>
            <a:off x="1270000" y="68072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client and brand entry form</a:t>
            </a:r>
            <a:endParaRPr lang="en-US" sz="1400" dirty="0"/>
          </a:p>
        </p:txBody>
      </p:sp>
      <p:sp>
        <p:nvSpPr>
          <p:cNvPr id="9" name="inventory-frame"/>
          <p:cNvSpPr/>
          <p:nvPr/>
        </p:nvSpPr>
        <p:spPr>
          <a:xfrm>
            <a:off x="5715000" y="2895600"/>
            <a:ext cx="9525000" cy="426720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0" name="inventory-shot" descr="preencoded.png">    </p:cNvPr>
          <p:cNvPicPr>
            <a:picLocks noChangeAspect="1"/>
          </p:cNvPicPr>
          <p:nvPr/>
        </p:nvPicPr>
        <p:blipFill>
          <a:blip r:embed="rId2"/>
          <a:srcRect l="-8174" r="-8174" t="0" b="0"/>
          <a:stretch/>
        </p:blipFill>
        <p:spPr>
          <a:xfrm>
            <a:off x="5892800" y="3073400"/>
            <a:ext cx="9169400" cy="3657600"/>
          </a:xfrm>
          <a:prstGeom prst="rect">
            <a:avLst/>
          </a:prstGeom>
        </p:spPr>
      </p:pic>
      <p:sp>
        <p:nvSpPr>
          <p:cNvPr id="11" name="inventory-caption"/>
          <p:cNvSpPr/>
          <p:nvPr/>
        </p:nvSpPr>
        <p:spPr>
          <a:xfrm>
            <a:off x="6019800" y="68072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 ledger for rolls, suppliers, material quantity, and stock status</a:t>
            </a:r>
            <a:endParaRPr lang="en-US" sz="1400" dirty="0"/>
          </a:p>
        </p:txBody>
      </p:sp>
      <p:sp>
        <p:nvSpPr>
          <p:cNvPr id="12" name="clientinventory-insight"/>
          <p:cNvSpPr/>
          <p:nvPr/>
        </p:nvSpPr>
        <p:spPr>
          <a:xfrm>
            <a:off x="1016000" y="7493000"/>
            <a:ext cx="14224000" cy="635000"/>
          </a:xfrm>
          <a:prstGeom prst="roundRect">
            <a:avLst>
              <a:gd name="adj" fmla="val 24000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13" name="clientinventory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7645400"/>
            <a:ext cx="304800" cy="304800"/>
          </a:xfrm>
          <a:prstGeom prst="rect">
            <a:avLst/>
          </a:prstGeom>
        </p:spPr>
      </p:pic>
      <p:sp>
        <p:nvSpPr>
          <p:cNvPr id="14" name="clientinventory-copy"/>
          <p:cNvSpPr/>
          <p:nvPr/>
        </p:nvSpPr>
        <p:spPr>
          <a:xfrm>
            <a:off x="1828800" y="7658100"/>
            <a:ext cx="1270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information and raw-material information are captured in clear, reusable records instead of scattered paper notes.</a:t>
            </a:r>
            <a:endParaRPr lang="en-US" sz="1600" dirty="0"/>
          </a:p>
        </p:txBody>
      </p:sp>
      <p:sp>
        <p:nvSpPr>
          <p:cNvPr id="15" name="clientinventory-footer"/>
          <p:cNvSpPr/>
          <p:nvPr/>
        </p:nvSpPr>
        <p:spPr>
          <a:xfrm>
            <a:off x="1016000" y="8407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CLIENTS + FABRIC INVENTORY</a:t>
            </a:r>
            <a:endParaRPr lang="en-US" sz="1400" dirty="0"/>
          </a:p>
        </p:txBody>
      </p:sp>
      <p:sp>
        <p:nvSpPr>
          <p:cNvPr id="16" name="clientinventory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fabric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aifabric-kicker"/>
          <p:cNvSpPr/>
          <p:nvPr/>
        </p:nvSpPr>
        <p:spPr>
          <a:xfrm>
            <a:off x="1016000" y="12192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FEATURE HIGHLIGHT</a:t>
            </a:r>
            <a:endParaRPr lang="en-US" sz="1500" dirty="0"/>
          </a:p>
        </p:txBody>
      </p:sp>
      <p:sp>
        <p:nvSpPr>
          <p:cNvPr id="4" name="aifabric-title"/>
          <p:cNvSpPr/>
          <p:nvPr/>
        </p:nvSpPr>
        <p:spPr>
          <a:xfrm>
            <a:off x="1016000" y="1625600"/>
            <a:ext cx="1244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plans fabric before production starts</a:t>
            </a:r>
            <a:endParaRPr lang="en-US" sz="3600" dirty="0"/>
          </a:p>
        </p:txBody>
      </p:sp>
      <p:sp>
        <p:nvSpPr>
          <p:cNvPr id="5" name="aifabric-subtitle"/>
          <p:cNvSpPr/>
          <p:nvPr/>
        </p:nvSpPr>
        <p:spPr>
          <a:xfrm>
            <a:off x="1016000" y="2260600"/>
            <a:ext cx="1206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estimator turns simple production inputs into a practical material-planning suggestion.</a:t>
            </a:r>
            <a:endParaRPr lang="en-US" sz="1800" dirty="0"/>
          </a:p>
        </p:txBody>
      </p:sp>
      <p:sp>
        <p:nvSpPr>
          <p:cNvPr id="6" name="input-card"/>
          <p:cNvSpPr/>
          <p:nvPr/>
        </p:nvSpPr>
        <p:spPr>
          <a:xfrm>
            <a:off x="1016000" y="2857500"/>
            <a:ext cx="4445000" cy="812800"/>
          </a:xfrm>
          <a:prstGeom prst="roundRect">
            <a:avLst>
              <a:gd name="adj" fmla="val 20313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7" name="inpu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3073400"/>
            <a:ext cx="330200" cy="330200"/>
          </a:xfrm>
          <a:prstGeom prst="rect">
            <a:avLst/>
          </a:prstGeom>
        </p:spPr>
      </p:pic>
      <p:sp>
        <p:nvSpPr>
          <p:cNvPr id="8" name="input-copy"/>
          <p:cNvSpPr/>
          <p:nvPr/>
        </p:nvSpPr>
        <p:spPr>
          <a:xfrm>
            <a:off x="1828800" y="30226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r>
              <a:rPr lang="en-US" alt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garment style, quantity, and fabric type</a:t>
            </a:r>
            <a:endParaRPr lang="en-US" sz="1600" dirty="0"/>
          </a:p>
        </p:txBody>
      </p:sp>
      <p:sp>
        <p:nvSpPr>
          <p:cNvPr id="9" name="calculate-card"/>
          <p:cNvSpPr/>
          <p:nvPr/>
        </p:nvSpPr>
        <p:spPr>
          <a:xfrm>
            <a:off x="5905500" y="2857500"/>
            <a:ext cx="4445000" cy="812800"/>
          </a:xfrm>
          <a:prstGeom prst="roundRect">
            <a:avLst>
              <a:gd name="adj" fmla="val 20313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10" name="calculate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0" y="3073400"/>
            <a:ext cx="330200" cy="330200"/>
          </a:xfrm>
          <a:prstGeom prst="rect">
            <a:avLst/>
          </a:prstGeom>
        </p:spPr>
      </p:pic>
      <p:sp>
        <p:nvSpPr>
          <p:cNvPr id="11" name="calculate-copy"/>
          <p:cNvSpPr/>
          <p:nvPr/>
        </p:nvSpPr>
        <p:spPr>
          <a:xfrm>
            <a:off x="6718300" y="30226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</a:t>
            </a:r>
            <a:r>
              <a:rPr lang="en-US" alt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expected fabric requirement</a:t>
            </a:r>
            <a:endParaRPr lang="en-US" sz="1600" dirty="0"/>
          </a:p>
        </p:txBody>
      </p:sp>
      <p:sp>
        <p:nvSpPr>
          <p:cNvPr id="12" name="advice-card"/>
          <p:cNvSpPr/>
          <p:nvPr/>
        </p:nvSpPr>
        <p:spPr>
          <a:xfrm>
            <a:off x="10795000" y="2857500"/>
            <a:ext cx="4445000" cy="812800"/>
          </a:xfrm>
          <a:prstGeom prst="roundRect">
            <a:avLst>
              <a:gd name="adj" fmla="val 20313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13" name="advic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3073400"/>
            <a:ext cx="330200" cy="330200"/>
          </a:xfrm>
          <a:prstGeom prst="rect">
            <a:avLst/>
          </a:prstGeom>
        </p:spPr>
      </p:pic>
      <p:sp>
        <p:nvSpPr>
          <p:cNvPr id="14" name="advice-copy"/>
          <p:cNvSpPr/>
          <p:nvPr/>
        </p:nvSpPr>
        <p:spPr>
          <a:xfrm>
            <a:off x="11607800" y="30226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Advise</a:t>
            </a:r>
            <a:r>
              <a:rPr lang="en-US" alt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a layout idea to reduce waste</a:t>
            </a:r>
            <a:endParaRPr lang="en-US" sz="1600" dirty="0"/>
          </a:p>
        </p:txBody>
      </p:sp>
      <p:sp>
        <p:nvSpPr>
          <p:cNvPr id="15" name="aifabric-frame"/>
          <p:cNvSpPr/>
          <p:nvPr/>
        </p:nvSpPr>
        <p:spPr>
          <a:xfrm>
            <a:off x="1016000" y="4000500"/>
            <a:ext cx="14224000" cy="3111500"/>
          </a:xfrm>
          <a:prstGeom prst="roundRect">
            <a:avLst>
              <a:gd name="adj" fmla="val 734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6" name="aifabric-shot" descr="preencoded.png">    </p:cNvPr>
          <p:cNvPicPr>
            <a:picLocks noChangeAspect="1"/>
          </p:cNvPicPr>
          <p:nvPr/>
        </p:nvPicPr>
        <p:blipFill>
          <a:blip r:embed="rId4"/>
          <a:srcRect l="-4264" r="-4264" t="0" b="0"/>
          <a:stretch/>
        </p:blipFill>
        <p:spPr>
          <a:xfrm>
            <a:off x="1244600" y="4191000"/>
            <a:ext cx="13766800" cy="2463800"/>
          </a:xfrm>
          <a:prstGeom prst="rect">
            <a:avLst/>
          </a:prstGeom>
        </p:spPr>
      </p:pic>
      <p:sp>
        <p:nvSpPr>
          <p:cNvPr id="17" name="aifabric-caption"/>
          <p:cNvSpPr/>
          <p:nvPr/>
        </p:nvSpPr>
        <p:spPr>
          <a:xfrm>
            <a:off x="1422400" y="6731000"/>
            <a:ext cx="1333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Fabric &amp; Cost Smart Estimator shown as a simple planning tool inside the inventory workspace</a:t>
            </a:r>
            <a:endParaRPr lang="en-US" sz="1400" dirty="0"/>
          </a:p>
        </p:txBody>
      </p:sp>
      <p:sp>
        <p:nvSpPr>
          <p:cNvPr id="18" name="aifabric-note"/>
          <p:cNvSpPr/>
          <p:nvPr/>
        </p:nvSpPr>
        <p:spPr>
          <a:xfrm>
            <a:off x="1016000" y="7416800"/>
            <a:ext cx="14224000" cy="609600"/>
          </a:xfrm>
          <a:prstGeom prst="roundRect">
            <a:avLst>
              <a:gd name="adj" fmla="val 25000"/>
            </a:avLst>
          </a:prstGeom>
          <a:solidFill>
            <a:srgbClr val="152238"/>
          </a:solidFill>
          <a:ln/>
        </p:spPr>
      </p:sp>
      <p:sp>
        <p:nvSpPr>
          <p:cNvPr id="19" name="aifabric-note-copy"/>
          <p:cNvSpPr/>
          <p:nvPr/>
        </p:nvSpPr>
        <p:spPr>
          <a:xfrm>
            <a:off x="1320800" y="7569200"/>
            <a:ext cx="13614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600" dirty="0">
                <a:solidFill>
                  <a:srgbClr val="D7F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gives a useful estimate and suggestion; the contractor checks the final plan before production.</a:t>
            </a:r>
            <a:endParaRPr lang="en-US" sz="1600" dirty="0"/>
          </a:p>
        </p:txBody>
      </p:sp>
      <p:sp>
        <p:nvSpPr>
          <p:cNvPr id="20" name="aifabric-footer"/>
          <p:cNvSpPr/>
          <p:nvPr/>
        </p:nvSpPr>
        <p:spPr>
          <a:xfrm>
            <a:off x="1016000" y="84074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AI FABRIC &amp; COST ESTIMATOR</a:t>
            </a:r>
            <a:endParaRPr lang="en-US" sz="1400" dirty="0"/>
          </a:p>
        </p:txBody>
      </p:sp>
      <p:sp>
        <p:nvSpPr>
          <p:cNvPr id="21" name="aifabric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ders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orders-kicker"/>
          <p:cNvSpPr/>
          <p:nvPr/>
        </p:nvSpPr>
        <p:spPr>
          <a:xfrm>
            <a:off x="9982200" y="12700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CONTROL</a:t>
            </a:r>
            <a:endParaRPr lang="en-US" sz="1500" dirty="0"/>
          </a:p>
        </p:txBody>
      </p:sp>
      <p:sp>
        <p:nvSpPr>
          <p:cNvPr id="4" name="orders-title"/>
          <p:cNvSpPr/>
          <p:nvPr/>
        </p:nvSpPr>
        <p:spPr>
          <a:xfrm>
            <a:off x="9982200" y="1676400"/>
            <a:ext cx="495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altLang="en-US" sz="3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Job tracking protects order data</a:t>
            </a:r>
            <a:endParaRPr lang="en-US" sz="3400" dirty="0"/>
          </a:p>
        </p:txBody>
      </p:sp>
      <p:sp>
        <p:nvSpPr>
          <p:cNvPr id="5" name="orders-frame"/>
          <p:cNvSpPr/>
          <p:nvPr/>
        </p:nvSpPr>
        <p:spPr>
          <a:xfrm>
            <a:off x="914400" y="1625600"/>
            <a:ext cx="8509000" cy="4140200"/>
          </a:xfrm>
          <a:prstGeom prst="roundRect">
            <a:avLst>
              <a:gd name="adj" fmla="val 490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orders-shot" descr="preencoded.png">    </p:cNvPr>
          <p:cNvPicPr>
            <a:picLocks noChangeAspect="1"/>
          </p:cNvPicPr>
          <p:nvPr/>
        </p:nvPicPr>
        <p:blipFill>
          <a:blip r:embed="rId1"/>
          <a:srcRect l="-3339" r="-3339" t="0" b="0"/>
          <a:stretch/>
        </p:blipFill>
        <p:spPr>
          <a:xfrm>
            <a:off x="1092200" y="1803400"/>
            <a:ext cx="8153400" cy="3581400"/>
          </a:xfrm>
          <a:prstGeom prst="rect">
            <a:avLst/>
          </a:prstGeom>
        </p:spPr>
      </p:pic>
      <p:sp>
        <p:nvSpPr>
          <p:cNvPr id="7" name="orders-caption"/>
          <p:cNvSpPr/>
          <p:nvPr/>
        </p:nvSpPr>
        <p:spPr>
          <a:xfrm>
            <a:off x="1219200" y="5410200"/>
            <a:ext cx="787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orders show targets, progress, status, and due dates in a single view</a:t>
            </a:r>
            <a:endParaRPr lang="en-US" sz="1300" dirty="0"/>
          </a:p>
        </p:txBody>
      </p:sp>
      <p:sp>
        <p:nvSpPr>
          <p:cNvPr id="8" name="trash-frame"/>
          <p:cNvSpPr/>
          <p:nvPr/>
        </p:nvSpPr>
        <p:spPr>
          <a:xfrm>
            <a:off x="914400" y="6096000"/>
            <a:ext cx="8509000" cy="1625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9" name="trash-shot" descr="preencoded.png">    </p:cNvPr>
          <p:cNvPicPr>
            <a:picLocks noChangeAspect="1"/>
          </p:cNvPicPr>
          <p:nvPr/>
        </p:nvPicPr>
        <p:blipFill>
          <a:blip r:embed="rId2"/>
          <a:srcRect l="-36422" r="-36422" t="0" b="0"/>
          <a:stretch/>
        </p:blipFill>
        <p:spPr>
          <a:xfrm>
            <a:off x="1092200" y="6248400"/>
            <a:ext cx="8153400" cy="1117600"/>
          </a:xfrm>
          <a:prstGeom prst="rect">
            <a:avLst/>
          </a:prstGeom>
        </p:spPr>
      </p:pic>
      <p:sp>
        <p:nvSpPr>
          <p:cNvPr id="10" name="trash-caption"/>
          <p:cNvSpPr/>
          <p:nvPr/>
        </p:nvSpPr>
        <p:spPr>
          <a:xfrm>
            <a:off x="1219200" y="7391400"/>
            <a:ext cx="787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Trash Bin keeps deleted orders available for recovery</a:t>
            </a:r>
            <a:endParaRPr lang="en-US" sz="1300" dirty="0"/>
          </a:p>
        </p:txBody>
      </p:sp>
      <p:sp>
        <p:nvSpPr>
          <p:cNvPr id="11" name="tracking-card"/>
          <p:cNvSpPr/>
          <p:nvPr/>
        </p:nvSpPr>
        <p:spPr>
          <a:xfrm>
            <a:off x="9982200" y="3124200"/>
            <a:ext cx="5257800" cy="1828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2" name="tracking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3479800"/>
            <a:ext cx="431800" cy="431800"/>
          </a:xfrm>
          <a:prstGeom prst="rect">
            <a:avLst/>
          </a:prstGeom>
        </p:spPr>
      </p:pic>
      <p:sp>
        <p:nvSpPr>
          <p:cNvPr id="13" name="tracking-heading"/>
          <p:cNvSpPr/>
          <p:nvPr/>
        </p:nvSpPr>
        <p:spPr>
          <a:xfrm>
            <a:off x="11074400" y="34417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Track progress clearly</a:t>
            </a:r>
            <a:endParaRPr lang="en-US" sz="2200" dirty="0"/>
          </a:p>
        </p:txBody>
      </p:sp>
      <p:sp>
        <p:nvSpPr>
          <p:cNvPr id="14" name="tracking-copy"/>
          <p:cNvSpPr/>
          <p:nvPr/>
        </p:nvSpPr>
        <p:spPr>
          <a:xfrm>
            <a:off x="10363200" y="4102100"/>
            <a:ext cx="429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can compare completed pieces with the target and focus on orders that are still pending.</a:t>
            </a:r>
            <a:endParaRPr lang="en-US" sz="1700" dirty="0"/>
          </a:p>
        </p:txBody>
      </p:sp>
      <p:sp>
        <p:nvSpPr>
          <p:cNvPr id="15" name="recovery-card"/>
          <p:cNvSpPr/>
          <p:nvPr/>
        </p:nvSpPr>
        <p:spPr>
          <a:xfrm>
            <a:off x="9982200" y="5232400"/>
            <a:ext cx="5257800" cy="1828800"/>
          </a:xfrm>
          <a:prstGeom prst="roundRect">
            <a:avLst>
              <a:gd name="adj" fmla="val 11111"/>
            </a:avLst>
          </a:prstGeom>
          <a:solidFill>
            <a:srgbClr val="FFF7F5"/>
          </a:solidFill>
          <a:ln w="12700">
            <a:solidFill>
              <a:srgbClr val="FFD1C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6" name="recovery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5588000"/>
            <a:ext cx="431800" cy="431800"/>
          </a:xfrm>
          <a:prstGeom prst="rect">
            <a:avLst/>
          </a:prstGeom>
        </p:spPr>
      </p:pic>
      <p:sp>
        <p:nvSpPr>
          <p:cNvPr id="17" name="recovery-heading"/>
          <p:cNvSpPr/>
          <p:nvPr/>
        </p:nvSpPr>
        <p:spPr>
          <a:xfrm>
            <a:off x="11074400" y="55499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Recover safely</a:t>
            </a:r>
            <a:endParaRPr lang="en-US" sz="2200" dirty="0"/>
          </a:p>
        </p:txBody>
      </p:sp>
      <p:sp>
        <p:nvSpPr>
          <p:cNvPr id="18" name="recovery-copy"/>
          <p:cNvSpPr/>
          <p:nvPr/>
        </p:nvSpPr>
        <p:spPr>
          <a:xfrm>
            <a:off x="10363200" y="6210300"/>
            <a:ext cx="429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delete moves an accidental deletion to the Trash Bin before permanent removal.</a:t>
            </a:r>
            <a:endParaRPr lang="en-US" sz="1700" dirty="0"/>
          </a:p>
        </p:txBody>
      </p:sp>
      <p:sp>
        <p:nvSpPr>
          <p:cNvPr id="19" name="orders-footer"/>
          <p:cNvSpPr/>
          <p:nvPr/>
        </p:nvSpPr>
        <p:spPr>
          <a:xfrm>
            <a:off x="1016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JOB ORDERS + DATA RECOVERY</a:t>
            </a:r>
            <a:endParaRPr lang="en-US" sz="1400" dirty="0"/>
          </a:p>
        </p:txBody>
      </p:sp>
      <p:sp>
        <p:nvSpPr>
          <p:cNvPr id="20" name="orders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ion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production-kicker"/>
          <p:cNvSpPr/>
          <p:nvPr/>
        </p:nvSpPr>
        <p:spPr>
          <a:xfrm>
            <a:off x="1016000" y="12192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VISIBILITY</a:t>
            </a:r>
            <a:endParaRPr lang="en-US" sz="1500" dirty="0"/>
          </a:p>
        </p:txBody>
      </p:sp>
      <p:sp>
        <p:nvSpPr>
          <p:cNvPr id="4" name="production-title"/>
          <p:cNvSpPr/>
          <p:nvPr/>
        </p:nvSpPr>
        <p:spPr>
          <a:xfrm>
            <a:off x="1016000" y="1625600"/>
            <a:ext cx="1244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 and reports make work visible</a:t>
            </a:r>
            <a:endParaRPr lang="en-US" sz="3600" dirty="0"/>
          </a:p>
        </p:txBody>
      </p:sp>
      <p:sp>
        <p:nvSpPr>
          <p:cNvPr id="5" name="record-card"/>
          <p:cNvSpPr/>
          <p:nvPr/>
        </p:nvSpPr>
        <p:spPr>
          <a:xfrm>
            <a:off x="1016000" y="2667000"/>
            <a:ext cx="4318000" cy="914400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/>
        </p:spPr>
      </p:sp>
      <p:pic>
        <p:nvPicPr>
          <p:cNvPr id="6" name="record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" y="2946400"/>
            <a:ext cx="330200" cy="330200"/>
          </a:xfrm>
          <a:prstGeom prst="rect">
            <a:avLst/>
          </a:prstGeom>
        </p:spPr>
      </p:pic>
      <p:sp>
        <p:nvSpPr>
          <p:cNvPr id="7" name="record-copy"/>
          <p:cNvSpPr/>
          <p:nvPr/>
        </p:nvSpPr>
        <p:spPr>
          <a:xfrm>
            <a:off x="1828800" y="28702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r>
              <a:rPr lang="en-US" alt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completed work on the production floor</a:t>
            </a:r>
            <a:endParaRPr lang="en-US" sz="1600" dirty="0"/>
          </a:p>
        </p:txBody>
      </p:sp>
      <p:sp>
        <p:nvSpPr>
          <p:cNvPr id="8" name="review-card"/>
          <p:cNvSpPr/>
          <p:nvPr/>
        </p:nvSpPr>
        <p:spPr>
          <a:xfrm>
            <a:off x="5715000" y="2667000"/>
            <a:ext cx="4318000" cy="914400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/>
        </p:spPr>
      </p:sp>
      <p:pic>
        <p:nvPicPr>
          <p:cNvPr id="9" name="review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0" y="2946400"/>
            <a:ext cx="330200" cy="330200"/>
          </a:xfrm>
          <a:prstGeom prst="rect">
            <a:avLst/>
          </a:prstGeom>
        </p:spPr>
      </p:pic>
      <p:sp>
        <p:nvSpPr>
          <p:cNvPr id="10" name="review-copy"/>
          <p:cNvSpPr/>
          <p:nvPr/>
        </p:nvSpPr>
        <p:spPr>
          <a:xfrm>
            <a:off x="6527800" y="28702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</a:t>
            </a:r>
            <a:r>
              <a:rPr lang="en-US" alt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output and workforce information</a:t>
            </a:r>
            <a:endParaRPr lang="en-US" sz="1600" dirty="0"/>
          </a:p>
        </p:txBody>
      </p:sp>
      <p:sp>
        <p:nvSpPr>
          <p:cNvPr id="11" name="action-card"/>
          <p:cNvSpPr/>
          <p:nvPr/>
        </p:nvSpPr>
        <p:spPr>
          <a:xfrm>
            <a:off x="10414000" y="2667000"/>
            <a:ext cx="4826000" cy="914400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/>
        </p:spPr>
      </p:sp>
      <p:pic>
        <p:nvPicPr>
          <p:cNvPr id="12" name="action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400" y="2946400"/>
            <a:ext cx="330200" cy="330200"/>
          </a:xfrm>
          <a:prstGeom prst="rect">
            <a:avLst/>
          </a:prstGeom>
        </p:spPr>
      </p:pic>
      <p:sp>
        <p:nvSpPr>
          <p:cNvPr id="13" name="action-copy"/>
          <p:cNvSpPr/>
          <p:nvPr/>
        </p:nvSpPr>
        <p:spPr>
          <a:xfrm>
            <a:off x="11226800" y="2870200"/>
            <a:ext cx="3632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r>
              <a:rPr lang="en-US" alt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clear reports for the next decision</a:t>
            </a:r>
            <a:endParaRPr lang="en-US" sz="1600" dirty="0"/>
          </a:p>
        </p:txBody>
      </p:sp>
      <p:sp>
        <p:nvSpPr>
          <p:cNvPr id="14" name="production-frame"/>
          <p:cNvSpPr/>
          <p:nvPr/>
        </p:nvSpPr>
        <p:spPr>
          <a:xfrm>
            <a:off x="1016000" y="4064000"/>
            <a:ext cx="6858000" cy="342900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5" name="production-shot" descr="preencoded.png">    </p:cNvPr>
          <p:cNvPicPr>
            <a:picLocks noChangeAspect="1"/>
          </p:cNvPicPr>
          <p:nvPr/>
        </p:nvPicPr>
        <p:blipFill>
          <a:blip r:embed="rId4"/>
          <a:srcRect l="0" r="0" t="-2844" b="-2844"/>
          <a:stretch/>
        </p:blipFill>
        <p:spPr>
          <a:xfrm>
            <a:off x="1193800" y="4241800"/>
            <a:ext cx="6502400" cy="2819400"/>
          </a:xfrm>
          <a:prstGeom prst="rect">
            <a:avLst/>
          </a:prstGeom>
        </p:spPr>
      </p:pic>
      <p:sp>
        <p:nvSpPr>
          <p:cNvPr id="16" name="production-caption"/>
          <p:cNvSpPr/>
          <p:nvPr/>
        </p:nvSpPr>
        <p:spPr>
          <a:xfrm>
            <a:off x="1320800" y="7099300"/>
            <a:ext cx="624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Floor Monitor records and reviews piece-rate work</a:t>
            </a:r>
            <a:endParaRPr lang="en-US" sz="1300" dirty="0"/>
          </a:p>
        </p:txBody>
      </p:sp>
      <p:sp>
        <p:nvSpPr>
          <p:cNvPr id="17" name="reports-frame"/>
          <p:cNvSpPr/>
          <p:nvPr/>
        </p:nvSpPr>
        <p:spPr>
          <a:xfrm>
            <a:off x="8382000" y="4064000"/>
            <a:ext cx="6858000" cy="342900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8" name="reports-shot" descr="preencoded.png">    </p:cNvPr>
          <p:cNvPicPr>
            <a:picLocks noChangeAspect="1"/>
          </p:cNvPicPr>
          <p:nvPr/>
        </p:nvPicPr>
        <p:blipFill>
          <a:blip r:embed="rId5"/>
          <a:srcRect l="-4183" r="-4183" t="0" b="0"/>
          <a:stretch/>
        </p:blipFill>
        <p:spPr>
          <a:xfrm>
            <a:off x="8559800" y="4241800"/>
            <a:ext cx="6502400" cy="2819400"/>
          </a:xfrm>
          <a:prstGeom prst="rect">
            <a:avLst/>
          </a:prstGeom>
        </p:spPr>
      </p:pic>
      <p:sp>
        <p:nvSpPr>
          <p:cNvPr id="19" name="reports-caption"/>
          <p:cNvSpPr/>
          <p:nvPr/>
        </p:nvSpPr>
        <p:spPr>
          <a:xfrm>
            <a:off x="8686800" y="7099300"/>
            <a:ext cx="624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&amp; Analytics summarise factory activity for review</a:t>
            </a:r>
            <a:endParaRPr lang="en-US" sz="1300" dirty="0"/>
          </a:p>
        </p:txBody>
      </p:sp>
      <p:sp>
        <p:nvSpPr>
          <p:cNvPr id="20" name="production-footer"/>
          <p:cNvSpPr/>
          <p:nvPr/>
        </p:nvSpPr>
        <p:spPr>
          <a:xfrm>
            <a:off x="1016000" y="84074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PRODUCTION + REPORTING</a:t>
            </a:r>
            <a:endParaRPr lang="en-US" sz="1400" dirty="0"/>
          </a:p>
        </p:txBody>
      </p:sp>
      <p:sp>
        <p:nvSpPr>
          <p:cNvPr id="21" name="production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force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workforce-kicker"/>
          <p:cNvSpPr/>
          <p:nvPr/>
        </p:nvSpPr>
        <p:spPr>
          <a:xfrm>
            <a:off x="1016000" y="12446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ADMINISTRATION FOUNDATION</a:t>
            </a:r>
            <a:endParaRPr lang="en-US" sz="1500" dirty="0"/>
          </a:p>
        </p:txBody>
      </p:sp>
      <p:sp>
        <p:nvSpPr>
          <p:cNvPr id="4" name="workforce-title"/>
          <p:cNvSpPr/>
          <p:nvPr/>
        </p:nvSpPr>
        <p:spPr>
          <a:xfrm>
            <a:off x="1016000" y="1651000"/>
            <a:ext cx="1333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Workforce and factory settings stay centralised</a:t>
            </a:r>
            <a:endParaRPr lang="en-US" sz="3600" dirty="0"/>
          </a:p>
        </p:txBody>
      </p:sp>
      <p:sp>
        <p:nvSpPr>
          <p:cNvPr id="5" name="workforce-subtitle"/>
          <p:cNvSpPr/>
          <p:nvPr/>
        </p:nvSpPr>
        <p:spPr>
          <a:xfrm>
            <a:off x="1016000" y="2286000"/>
            <a:ext cx="1244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records and factory rules are organised so daily operations remain consistent.</a:t>
            </a:r>
            <a:endParaRPr lang="en-US" sz="1800" dirty="0"/>
          </a:p>
        </p:txBody>
      </p:sp>
      <p:sp>
        <p:nvSpPr>
          <p:cNvPr id="6" name="people-label"/>
          <p:cNvSpPr/>
          <p:nvPr/>
        </p:nvSpPr>
        <p:spPr>
          <a:xfrm>
            <a:off x="1016000" y="2857500"/>
            <a:ext cx="6858000" cy="381000"/>
          </a:xfrm>
          <a:prstGeom prst="roundRect">
            <a:avLst>
              <a:gd name="adj" fmla="val 33333"/>
            </a:avLst>
          </a:prstGeom>
          <a:solidFill>
            <a:srgbClr val="152238"/>
          </a:solidFill>
          <a:ln/>
        </p:spPr>
      </p:sp>
      <p:pic>
        <p:nvPicPr>
          <p:cNvPr id="7" name="peop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933700"/>
            <a:ext cx="228600" cy="228600"/>
          </a:xfrm>
          <a:prstGeom prst="rect">
            <a:avLst/>
          </a:prstGeom>
        </p:spPr>
      </p:pic>
      <p:sp>
        <p:nvSpPr>
          <p:cNvPr id="8" name="people-label-copy"/>
          <p:cNvSpPr/>
          <p:nvPr/>
        </p:nvSpPr>
        <p:spPr>
          <a:xfrm>
            <a:off x="1625600" y="29210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DIRECTORY · skills, output, payment balance, and status</a:t>
            </a:r>
            <a:endParaRPr lang="en-US" sz="1400" dirty="0"/>
          </a:p>
        </p:txBody>
      </p:sp>
      <p:sp>
        <p:nvSpPr>
          <p:cNvPr id="9" name="settings-label"/>
          <p:cNvSpPr/>
          <p:nvPr/>
        </p:nvSpPr>
        <p:spPr>
          <a:xfrm>
            <a:off x="8382000" y="2857500"/>
            <a:ext cx="6858000" cy="381000"/>
          </a:xfrm>
          <a:prstGeom prst="roundRect">
            <a:avLst>
              <a:gd name="adj" fmla="val 33333"/>
            </a:avLst>
          </a:prstGeom>
          <a:solidFill>
            <a:srgbClr val="152238"/>
          </a:solidFill>
          <a:ln/>
        </p:spPr>
      </p:sp>
      <p:pic>
        <p:nvPicPr>
          <p:cNvPr id="10" name="settings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0" y="2933700"/>
            <a:ext cx="228600" cy="228600"/>
          </a:xfrm>
          <a:prstGeom prst="rect">
            <a:avLst/>
          </a:prstGeom>
        </p:spPr>
      </p:pic>
      <p:sp>
        <p:nvSpPr>
          <p:cNvPr id="11" name="settings-label-copy"/>
          <p:cNvSpPr/>
          <p:nvPr/>
        </p:nvSpPr>
        <p:spPr>
          <a:xfrm>
            <a:off x="8991600" y="29210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SETTINGS · profile, tax, currency, and operational preferences</a:t>
            </a:r>
            <a:endParaRPr lang="en-US" sz="1400" dirty="0"/>
          </a:p>
        </p:txBody>
      </p:sp>
      <p:sp>
        <p:nvSpPr>
          <p:cNvPr id="12" name="workforce-frame"/>
          <p:cNvSpPr/>
          <p:nvPr/>
        </p:nvSpPr>
        <p:spPr>
          <a:xfrm>
            <a:off x="1016000" y="3454400"/>
            <a:ext cx="6858000" cy="378460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3" name="workforce-shot" descr="preencoded.png">    </p:cNvPr>
          <p:cNvPicPr>
            <a:picLocks noChangeAspect="1"/>
          </p:cNvPicPr>
          <p:nvPr/>
        </p:nvPicPr>
        <p:blipFill>
          <a:blip r:embed="rId3"/>
          <a:srcRect l="0" r="0" t="-2281" b="-2281"/>
          <a:stretch/>
        </p:blipFill>
        <p:spPr>
          <a:xfrm>
            <a:off x="1193800" y="3632200"/>
            <a:ext cx="6502400" cy="3098800"/>
          </a:xfrm>
          <a:prstGeom prst="rect">
            <a:avLst/>
          </a:prstGeom>
        </p:spPr>
      </p:pic>
      <p:sp>
        <p:nvSpPr>
          <p:cNvPr id="14" name="workforce-caption"/>
          <p:cNvSpPr/>
          <p:nvPr/>
        </p:nvSpPr>
        <p:spPr>
          <a:xfrm>
            <a:off x="1320800" y="6858000"/>
            <a:ext cx="6248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directory supports clear piece-rate record management</a:t>
            </a:r>
            <a:endParaRPr lang="en-US" sz="1300" dirty="0"/>
          </a:p>
        </p:txBody>
      </p:sp>
      <p:sp>
        <p:nvSpPr>
          <p:cNvPr id="15" name="settings-frame"/>
          <p:cNvSpPr/>
          <p:nvPr/>
        </p:nvSpPr>
        <p:spPr>
          <a:xfrm>
            <a:off x="8382000" y="3454400"/>
            <a:ext cx="6858000" cy="378460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6" name="settings-shot" descr="preencoded.png">    </p:cNvPr>
          <p:cNvPicPr>
            <a:picLocks noChangeAspect="1"/>
          </p:cNvPicPr>
          <p:nvPr/>
        </p:nvPicPr>
        <p:blipFill>
          <a:blip r:embed="rId4"/>
          <a:srcRect l="0" r="0" t="-2281" b="-2281"/>
          <a:stretch/>
        </p:blipFill>
        <p:spPr>
          <a:xfrm>
            <a:off x="8559800" y="3632200"/>
            <a:ext cx="6502400" cy="3098800"/>
          </a:xfrm>
          <a:prstGeom prst="rect">
            <a:avLst/>
          </a:prstGeom>
        </p:spPr>
      </p:pic>
      <p:sp>
        <p:nvSpPr>
          <p:cNvPr id="17" name="settings-caption"/>
          <p:cNvSpPr/>
          <p:nvPr/>
        </p:nvSpPr>
        <p:spPr>
          <a:xfrm>
            <a:off x="8686800" y="6858000"/>
            <a:ext cx="6248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configuration keeps essential operating details in one place</a:t>
            </a:r>
            <a:endParaRPr lang="en-US" sz="1300" dirty="0"/>
          </a:p>
        </p:txBody>
      </p:sp>
      <p:sp>
        <p:nvSpPr>
          <p:cNvPr id="18" name="workforce-footer"/>
          <p:cNvSpPr/>
          <p:nvPr/>
        </p:nvSpPr>
        <p:spPr>
          <a:xfrm>
            <a:off x="1016000" y="84074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WORKFORCE + FACTORY SETTINGS</a:t>
            </a:r>
            <a:endParaRPr lang="en-US" sz="1400" dirty="0"/>
          </a:p>
        </p:txBody>
      </p:sp>
      <p:sp>
        <p:nvSpPr>
          <p:cNvPr id="19" name="workforce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features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aifeatures-kicker"/>
          <p:cNvSpPr/>
          <p:nvPr/>
        </p:nvSpPr>
        <p:spPr>
          <a:xfrm>
            <a:off x="1016000" y="1244600"/>
            <a:ext cx="330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 SIMPLE WORDS</a:t>
            </a:r>
            <a:endParaRPr lang="en-US" sz="1500" dirty="0"/>
          </a:p>
        </p:txBody>
      </p:sp>
      <p:sp>
        <p:nvSpPr>
          <p:cNvPr id="4" name="aifeatures-title"/>
          <p:cNvSpPr/>
          <p:nvPr/>
        </p:nvSpPr>
        <p:spPr>
          <a:xfrm>
            <a:off x="1016000" y="1651000"/>
            <a:ext cx="1244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features, explained simply</a:t>
            </a:r>
            <a:endParaRPr lang="en-US" sz="3600" dirty="0"/>
          </a:p>
        </p:txBody>
      </p:sp>
      <p:sp>
        <p:nvSpPr>
          <p:cNvPr id="5" name="aifeatures-subtitle"/>
          <p:cNvSpPr/>
          <p:nvPr/>
        </p:nvSpPr>
        <p:spPr>
          <a:xfrm>
            <a:off x="1016000" y="2286000"/>
            <a:ext cx="1270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features shown in the dashboard and estimator are decision-support tools for the contractor.</a:t>
            </a:r>
            <a:endParaRPr lang="en-US" sz="1800" dirty="0"/>
          </a:p>
        </p:txBody>
      </p:sp>
      <p:sp>
        <p:nvSpPr>
          <p:cNvPr id="6" name="estimate-card"/>
          <p:cNvSpPr/>
          <p:nvPr/>
        </p:nvSpPr>
        <p:spPr>
          <a:xfrm>
            <a:off x="1016000" y="3175000"/>
            <a:ext cx="4318000" cy="3302000"/>
          </a:xfrm>
          <a:prstGeom prst="roundRect">
            <a:avLst>
              <a:gd name="adj" fmla="val 692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estima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0" y="3632200"/>
            <a:ext cx="584200" cy="584200"/>
          </a:xfrm>
          <a:prstGeom prst="rect">
            <a:avLst/>
          </a:prstGeom>
        </p:spPr>
      </p:pic>
      <p:sp>
        <p:nvSpPr>
          <p:cNvPr id="8" name="estimate-title"/>
          <p:cNvSpPr/>
          <p:nvPr/>
        </p:nvSpPr>
        <p:spPr>
          <a:xfrm>
            <a:off x="1473200" y="45085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Fabric estimation</a:t>
            </a:r>
            <a:endParaRPr lang="en-US" sz="2300" dirty="0"/>
          </a:p>
        </p:txBody>
      </p:sp>
      <p:sp>
        <p:nvSpPr>
          <p:cNvPr id="9" name="estimate-copy"/>
          <p:cNvSpPr/>
          <p:nvPr/>
        </p:nvSpPr>
        <p:spPr>
          <a:xfrm>
            <a:off x="1473200" y="5156200"/>
            <a:ext cx="3124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uses garment style, quantity, and fabric details to estimate how much material may be needed.</a:t>
            </a:r>
            <a:endParaRPr lang="en-US" sz="1700" dirty="0"/>
          </a:p>
        </p:txBody>
      </p:sp>
      <p:sp>
        <p:nvSpPr>
          <p:cNvPr id="10" name="waste-card"/>
          <p:cNvSpPr/>
          <p:nvPr/>
        </p:nvSpPr>
        <p:spPr>
          <a:xfrm>
            <a:off x="5715000" y="3175000"/>
            <a:ext cx="4318000" cy="3302000"/>
          </a:xfrm>
          <a:prstGeom prst="roundRect">
            <a:avLst>
              <a:gd name="adj" fmla="val 692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waste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632200"/>
            <a:ext cx="584200" cy="584200"/>
          </a:xfrm>
          <a:prstGeom prst="rect">
            <a:avLst/>
          </a:prstGeom>
        </p:spPr>
      </p:pic>
      <p:sp>
        <p:nvSpPr>
          <p:cNvPr id="12" name="waste-title"/>
          <p:cNvSpPr/>
          <p:nvPr/>
        </p:nvSpPr>
        <p:spPr>
          <a:xfrm>
            <a:off x="6172200" y="4508500"/>
            <a:ext cx="320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Waste guidance</a:t>
            </a:r>
            <a:endParaRPr lang="en-US" sz="2300" dirty="0"/>
          </a:p>
        </p:txBody>
      </p:sp>
      <p:sp>
        <p:nvSpPr>
          <p:cNvPr id="13" name="waste-copy"/>
          <p:cNvSpPr/>
          <p:nvPr/>
        </p:nvSpPr>
        <p:spPr>
          <a:xfrm>
            <a:off x="6172200" y="5156200"/>
            <a:ext cx="3124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suggests a better cutting or layout plan so unused fabric can be reduced during production planning.</a:t>
            </a:r>
            <a:endParaRPr lang="en-US" sz="1700" dirty="0"/>
          </a:p>
        </p:txBody>
      </p:sp>
      <p:sp>
        <p:nvSpPr>
          <p:cNvPr id="14" name="operations-card"/>
          <p:cNvSpPr/>
          <p:nvPr/>
        </p:nvSpPr>
        <p:spPr>
          <a:xfrm>
            <a:off x="10414000" y="3175000"/>
            <a:ext cx="4826000" cy="3302000"/>
          </a:xfrm>
          <a:prstGeom prst="roundRect">
            <a:avLst>
              <a:gd name="adj" fmla="val 692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5" name="operations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3632200"/>
            <a:ext cx="584200" cy="584200"/>
          </a:xfrm>
          <a:prstGeom prst="rect">
            <a:avLst/>
          </a:prstGeom>
        </p:spPr>
      </p:pic>
      <p:sp>
        <p:nvSpPr>
          <p:cNvPr id="16" name="operations-title"/>
          <p:cNvSpPr/>
          <p:nvPr/>
        </p:nvSpPr>
        <p:spPr>
          <a:xfrm>
            <a:off x="10871200" y="4508500"/>
            <a:ext cx="363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Operations advice</a:t>
            </a:r>
            <a:endParaRPr lang="en-US" sz="2300" dirty="0"/>
          </a:p>
        </p:txBody>
      </p:sp>
      <p:sp>
        <p:nvSpPr>
          <p:cNvPr id="17" name="operations-copy"/>
          <p:cNvSpPr/>
          <p:nvPr/>
        </p:nvSpPr>
        <p:spPr>
          <a:xfrm>
            <a:off x="10871200" y="5156200"/>
            <a:ext cx="3581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6"/>
              </a:lnSpc>
              <a:buNone/>
            </a:pPr>
            <a:r>
              <a:rPr lang="en-US" altLang="en-US" sz="1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reviews work indicators and presents simple efficiency or bottleneck guidance for the manager to consider.</a:t>
            </a:r>
            <a:endParaRPr lang="en-US" sz="1700" dirty="0"/>
          </a:p>
        </p:txBody>
      </p:sp>
      <p:sp>
        <p:nvSpPr>
          <p:cNvPr id="18" name="aifeatures-note"/>
          <p:cNvSpPr/>
          <p:nvPr/>
        </p:nvSpPr>
        <p:spPr>
          <a:xfrm>
            <a:off x="1016000" y="6959600"/>
            <a:ext cx="14224000" cy="660400"/>
          </a:xfrm>
          <a:prstGeom prst="roundRect">
            <a:avLst>
              <a:gd name="adj" fmla="val 23077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19" name="aifeatures-note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200" y="7137400"/>
            <a:ext cx="304800" cy="304800"/>
          </a:xfrm>
          <a:prstGeom prst="rect">
            <a:avLst/>
          </a:prstGeom>
        </p:spPr>
      </p:pic>
      <p:sp>
        <p:nvSpPr>
          <p:cNvPr id="20" name="aifeatures-note-copy"/>
          <p:cNvSpPr/>
          <p:nvPr/>
        </p:nvSpPr>
        <p:spPr>
          <a:xfrm>
            <a:off x="1879600" y="7137400"/>
            <a:ext cx="129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helps the contractor understand options faster; the final operational decision remains with the contractor.</a:t>
            </a:r>
            <a:endParaRPr lang="en-US" sz="1700" dirty="0"/>
          </a:p>
        </p:txBody>
      </p:sp>
      <p:sp>
        <p:nvSpPr>
          <p:cNvPr id="21" name="aifeatures-footer"/>
          <p:cNvSpPr/>
          <p:nvPr/>
        </p:nvSpPr>
        <p:spPr>
          <a:xfrm>
            <a:off x="1016000" y="8407400"/>
            <a:ext cx="533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AI DECISION SUPPORT</a:t>
            </a:r>
            <a:endParaRPr lang="en-US" sz="1400" dirty="0"/>
          </a:p>
        </p:txBody>
      </p:sp>
      <p:sp>
        <p:nvSpPr>
          <p:cNvPr id="22" name="aifeatures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flow-kicker"/>
          <p:cNvSpPr/>
          <p:nvPr/>
        </p:nvSpPr>
        <p:spPr>
          <a:xfrm>
            <a:off x="1016000" y="12192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BUSINESS FLOW</a:t>
            </a:r>
            <a:endParaRPr lang="en-US" sz="1500" dirty="0"/>
          </a:p>
        </p:txBody>
      </p:sp>
      <p:sp>
        <p:nvSpPr>
          <p:cNvPr id="4" name="flow-title"/>
          <p:cNvSpPr/>
          <p:nvPr/>
        </p:nvSpPr>
        <p:spPr>
          <a:xfrm>
            <a:off x="1016000" y="1625600"/>
            <a:ext cx="1244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order to payment: a clear flow</a:t>
            </a:r>
            <a:endParaRPr lang="en-US" sz="3600" dirty="0"/>
          </a:p>
        </p:txBody>
      </p:sp>
      <p:sp>
        <p:nvSpPr>
          <p:cNvPr id="5" name="flow-subtitle"/>
          <p:cNvSpPr/>
          <p:nvPr/>
        </p:nvSpPr>
        <p:spPr>
          <a:xfrm>
            <a:off x="1016000" y="2260600"/>
            <a:ext cx="1244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B6C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module contributes to a traceable garment-factory workflow.</a:t>
            </a:r>
            <a:endParaRPr lang="en-US" sz="1800" dirty="0"/>
          </a:p>
        </p:txBody>
      </p:sp>
      <p:sp>
        <p:nvSpPr>
          <p:cNvPr id="6" name="buyer-card"/>
          <p:cNvSpPr/>
          <p:nvPr/>
        </p:nvSpPr>
        <p:spPr>
          <a:xfrm>
            <a:off x="1016000" y="3632200"/>
            <a:ext cx="2413000" cy="19050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7" name="buy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3911600"/>
            <a:ext cx="533400" cy="533400"/>
          </a:xfrm>
          <a:prstGeom prst="rect">
            <a:avLst/>
          </a:prstGeom>
        </p:spPr>
      </p:pic>
      <p:sp>
        <p:nvSpPr>
          <p:cNvPr id="8" name="buyer-title"/>
          <p:cNvSpPr/>
          <p:nvPr/>
        </p:nvSpPr>
        <p:spPr>
          <a:xfrm>
            <a:off x="1219200" y="4635500"/>
            <a:ext cx="2006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Buyer</a:t>
            </a:r>
            <a:endParaRPr lang="en-US" sz="2100" dirty="0"/>
          </a:p>
        </p:txBody>
      </p:sp>
      <p:sp>
        <p:nvSpPr>
          <p:cNvPr id="9" name="buyer-copy"/>
          <p:cNvSpPr/>
          <p:nvPr/>
        </p:nvSpPr>
        <p:spPr>
          <a:xfrm>
            <a:off x="1270000" y="50673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clear client record</a:t>
            </a:r>
            <a:endParaRPr lang="en-US" sz="1400" dirty="0"/>
          </a:p>
        </p:txBody>
      </p:sp>
      <p:sp>
        <p:nvSpPr>
          <p:cNvPr id="10" name="fabric-card"/>
          <p:cNvSpPr/>
          <p:nvPr/>
        </p:nvSpPr>
        <p:spPr>
          <a:xfrm>
            <a:off x="4000500" y="3632200"/>
            <a:ext cx="2413000" cy="19050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1" name="fabric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0" y="3911600"/>
            <a:ext cx="533400" cy="533400"/>
          </a:xfrm>
          <a:prstGeom prst="rect">
            <a:avLst/>
          </a:prstGeom>
        </p:spPr>
      </p:pic>
      <p:sp>
        <p:nvSpPr>
          <p:cNvPr id="12" name="fabric-title"/>
          <p:cNvSpPr/>
          <p:nvPr/>
        </p:nvSpPr>
        <p:spPr>
          <a:xfrm>
            <a:off x="4203700" y="4635500"/>
            <a:ext cx="2006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Fabric</a:t>
            </a:r>
            <a:endParaRPr lang="en-US" sz="2100" dirty="0"/>
          </a:p>
        </p:txBody>
      </p:sp>
      <p:sp>
        <p:nvSpPr>
          <p:cNvPr id="13" name="fabric-copy"/>
          <p:cNvSpPr/>
          <p:nvPr/>
        </p:nvSpPr>
        <p:spPr>
          <a:xfrm>
            <a:off x="4254500" y="50673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and check material</a:t>
            </a:r>
            <a:endParaRPr lang="en-US" sz="1400" dirty="0"/>
          </a:p>
        </p:txBody>
      </p:sp>
      <p:sp>
        <p:nvSpPr>
          <p:cNvPr id="14" name="job-card"/>
          <p:cNvSpPr/>
          <p:nvPr/>
        </p:nvSpPr>
        <p:spPr>
          <a:xfrm>
            <a:off x="6985000" y="3632200"/>
            <a:ext cx="2413000" cy="19050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5" name="job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3911600"/>
            <a:ext cx="533400" cy="533400"/>
          </a:xfrm>
          <a:prstGeom prst="rect">
            <a:avLst/>
          </a:prstGeom>
        </p:spPr>
      </p:pic>
      <p:sp>
        <p:nvSpPr>
          <p:cNvPr id="16" name="job-title"/>
          <p:cNvSpPr/>
          <p:nvPr/>
        </p:nvSpPr>
        <p:spPr>
          <a:xfrm>
            <a:off x="7188200" y="4635500"/>
            <a:ext cx="2006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Job Order</a:t>
            </a:r>
            <a:endParaRPr lang="en-US" sz="2100" dirty="0"/>
          </a:p>
        </p:txBody>
      </p:sp>
      <p:sp>
        <p:nvSpPr>
          <p:cNvPr id="17" name="job-copy"/>
          <p:cNvSpPr/>
          <p:nvPr/>
        </p:nvSpPr>
        <p:spPr>
          <a:xfrm>
            <a:off x="7239000" y="50673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target and due date</a:t>
            </a:r>
            <a:endParaRPr lang="en-US" sz="1400" dirty="0"/>
          </a:p>
        </p:txBody>
      </p:sp>
      <p:sp>
        <p:nvSpPr>
          <p:cNvPr id="18" name="production-card"/>
          <p:cNvSpPr/>
          <p:nvPr/>
        </p:nvSpPr>
        <p:spPr>
          <a:xfrm>
            <a:off x="9969500" y="3632200"/>
            <a:ext cx="2413000" cy="19050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19" name="production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3911600"/>
            <a:ext cx="533400" cy="533400"/>
          </a:xfrm>
          <a:prstGeom prst="rect">
            <a:avLst/>
          </a:prstGeom>
        </p:spPr>
      </p:pic>
      <p:sp>
        <p:nvSpPr>
          <p:cNvPr id="20" name="production-title"/>
          <p:cNvSpPr/>
          <p:nvPr/>
        </p:nvSpPr>
        <p:spPr>
          <a:xfrm>
            <a:off x="10172700" y="4635500"/>
            <a:ext cx="2006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Production</a:t>
            </a:r>
            <a:endParaRPr lang="en-US" sz="2100" dirty="0"/>
          </a:p>
        </p:txBody>
      </p:sp>
      <p:sp>
        <p:nvSpPr>
          <p:cNvPr id="21" name="production-copy"/>
          <p:cNvSpPr/>
          <p:nvPr/>
        </p:nvSpPr>
        <p:spPr>
          <a:xfrm>
            <a:off x="10223500" y="5067300"/>
            <a:ext cx="190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completed pieces</a:t>
            </a:r>
            <a:endParaRPr lang="en-US" sz="1400" dirty="0"/>
          </a:p>
        </p:txBody>
      </p:sp>
      <p:sp>
        <p:nvSpPr>
          <p:cNvPr id="22" name="payment-card"/>
          <p:cNvSpPr/>
          <p:nvPr/>
        </p:nvSpPr>
        <p:spPr>
          <a:xfrm>
            <a:off x="12954000" y="3632200"/>
            <a:ext cx="2286000" cy="19050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3" name="payment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0300" y="3911600"/>
            <a:ext cx="533400" cy="533400"/>
          </a:xfrm>
          <a:prstGeom prst="rect">
            <a:avLst/>
          </a:prstGeom>
        </p:spPr>
      </p:pic>
      <p:sp>
        <p:nvSpPr>
          <p:cNvPr id="24" name="payment-title"/>
          <p:cNvSpPr/>
          <p:nvPr/>
        </p:nvSpPr>
        <p:spPr>
          <a:xfrm>
            <a:off x="13157200" y="4635500"/>
            <a:ext cx="187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Payment</a:t>
            </a:r>
            <a:endParaRPr lang="en-US" sz="2100" dirty="0"/>
          </a:p>
        </p:txBody>
      </p:sp>
      <p:sp>
        <p:nvSpPr>
          <p:cNvPr id="25" name="payment-copy"/>
          <p:cNvSpPr/>
          <p:nvPr/>
        </p:nvSpPr>
        <p:spPr>
          <a:xfrm>
            <a:off x="13208000" y="506730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ledger and reports</a:t>
            </a:r>
            <a:endParaRPr lang="en-US" sz="1400" dirty="0"/>
          </a:p>
        </p:txBody>
      </p:sp>
      <p:sp>
        <p:nvSpPr>
          <p:cNvPr id="26" name="flow-arrow-one"/>
          <p:cNvSpPr/>
          <p:nvPr/>
        </p:nvSpPr>
        <p:spPr>
          <a:xfrm>
            <a:off x="3429000" y="4572000"/>
            <a:ext cx="571500" cy="9144"/>
          </a:xfrm>
          <a:prstGeom prst="line">
            <a:avLst/>
          </a:prstGeom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7" name="flow-arrow-two"/>
          <p:cNvSpPr/>
          <p:nvPr/>
        </p:nvSpPr>
        <p:spPr>
          <a:xfrm>
            <a:off x="6413500" y="4572000"/>
            <a:ext cx="571500" cy="9144"/>
          </a:xfrm>
          <a:prstGeom prst="line">
            <a:avLst/>
          </a:prstGeom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8" name="flow-arrow-three"/>
          <p:cNvSpPr/>
          <p:nvPr/>
        </p:nvSpPr>
        <p:spPr>
          <a:xfrm>
            <a:off x="9398000" y="4572000"/>
            <a:ext cx="571500" cy="9144"/>
          </a:xfrm>
          <a:prstGeom prst="line">
            <a:avLst/>
          </a:prstGeom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9" name="flow-arrow-four"/>
          <p:cNvSpPr/>
          <p:nvPr/>
        </p:nvSpPr>
        <p:spPr>
          <a:xfrm>
            <a:off x="12382500" y="4572000"/>
            <a:ext cx="571500" cy="9144"/>
          </a:xfrm>
          <a:prstGeom prst="line">
            <a:avLst/>
          </a:prstGeom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0" name="flow-ai-callout"/>
          <p:cNvSpPr/>
          <p:nvPr/>
        </p:nvSpPr>
        <p:spPr>
          <a:xfrm>
            <a:off x="1016000" y="6578600"/>
            <a:ext cx="14224000" cy="736600"/>
          </a:xfrm>
          <a:prstGeom prst="roundRect">
            <a:avLst>
              <a:gd name="adj" fmla="val 24138"/>
            </a:avLst>
          </a:prstGeom>
          <a:solidFill>
            <a:srgbClr val="152238"/>
          </a:solidFill>
          <a:ln w="12700">
            <a:solidFill>
              <a:srgbClr val="28425A"/>
            </a:solidFill>
            <a:prstDash val="solid"/>
          </a:ln>
        </p:spPr>
      </p:sp>
      <p:pic>
        <p:nvPicPr>
          <p:cNvPr id="31" name="flow-ai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6781800"/>
            <a:ext cx="342900" cy="342900"/>
          </a:xfrm>
          <a:prstGeom prst="rect">
            <a:avLst/>
          </a:prstGeom>
        </p:spPr>
      </p:pic>
      <p:sp>
        <p:nvSpPr>
          <p:cNvPr id="32" name="flow-ai-copy"/>
          <p:cNvSpPr/>
          <p:nvPr/>
        </p:nvSpPr>
        <p:spPr>
          <a:xfrm>
            <a:off x="2006600" y="6756400"/>
            <a:ext cx="1275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assists planning at the fabric and operations stages, helping the contractor prepare the next order more confidently.</a:t>
            </a:r>
            <a:endParaRPr lang="en-US" sz="1700" dirty="0"/>
          </a:p>
        </p:txBody>
      </p:sp>
      <p:sp>
        <p:nvSpPr>
          <p:cNvPr id="33" name="flow-footer"/>
          <p:cNvSpPr/>
          <p:nvPr/>
        </p:nvSpPr>
        <p:spPr>
          <a:xfrm>
            <a:off x="1016000" y="84074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8BA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GARMENT ERP · END-TO-END WORKFLOW</a:t>
            </a:r>
            <a:endParaRPr lang="en-US" sz="1400" dirty="0"/>
          </a:p>
        </p:txBody>
      </p:sp>
      <p:sp>
        <p:nvSpPr>
          <p:cNvPr id="34" name="flow-number"/>
          <p:cNvSpPr/>
          <p:nvPr/>
        </p:nvSpPr>
        <p:spPr>
          <a:xfrm>
            <a:off x="14782800" y="8407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-top-line"/>
          <p:cNvSpPr/>
          <p:nvPr/>
        </p:nvSpPr>
        <p:spPr>
          <a:xfrm>
            <a:off x="736600" y="736600"/>
            <a:ext cx="14782800" cy="9144"/>
          </a:xfrm>
          <a:prstGeom prst="line">
            <a:avLst/>
          </a:prstGeom>
          <a:ln w="63500">
            <a:solidFill>
              <a:srgbClr val="06B6D4"/>
            </a:solidFill>
            <a:prstDash val="solid"/>
          </a:ln>
        </p:spPr>
      </p:sp>
      <p:sp>
        <p:nvSpPr>
          <p:cNvPr id="3" name="thanks-left-accent"/>
          <p:cNvSpPr/>
          <p:nvPr/>
        </p:nvSpPr>
        <p:spPr>
          <a:xfrm rot="1080000">
            <a:off x="1930400" y="5867400"/>
            <a:ext cx="1498600" cy="1498600"/>
          </a:xfrm>
          <a:prstGeom prst="roundRect">
            <a:avLst>
              <a:gd name="adj" fmla="val 20339"/>
            </a:avLst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hanks-right-accent"/>
          <p:cNvSpPr/>
          <p:nvPr/>
        </p:nvSpPr>
        <p:spPr>
          <a:xfrm rot="1080000">
            <a:off x="12877800" y="2082800"/>
            <a:ext cx="1498600" cy="1498600"/>
          </a:xfrm>
          <a:prstGeom prst="roundRect">
            <a:avLst>
              <a:gd name="adj" fmla="val 20339"/>
            </a:avLst>
          </a:prstGeom>
          <a:solidFill>
            <a:srgbClr val="14B8A6">
              <a:alpha val="10000"/>
            </a:srgbClr>
          </a:solidFill>
          <a:ln/>
        </p:spPr>
      </p:sp>
      <p:pic>
        <p:nvPicPr>
          <p:cNvPr id="5" name="thanks-icon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518400" y="2794000"/>
            <a:ext cx="1219200" cy="1219200"/>
          </a:xfrm>
          <a:prstGeom prst="rect">
            <a:avLst/>
          </a:prstGeom>
        </p:spPr>
      </p:pic>
      <p:sp>
        <p:nvSpPr>
          <p:cNvPr id="6" name="thanks-title"/>
          <p:cNvSpPr/>
          <p:nvPr/>
        </p:nvSpPr>
        <p:spPr>
          <a:xfrm>
            <a:off x="3048000" y="4292600"/>
            <a:ext cx="10160000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altLang="en-US" sz="62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7" name="thanks-number"/>
          <p:cNvSpPr/>
          <p:nvPr/>
        </p:nvSpPr>
        <p:spPr>
          <a:xfrm>
            <a:off x="14782800" y="8064500"/>
            <a:ext cx="685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Garments Contractor &amp; Worker Management System</dc:title>
  <dc:subject>AI Powered Garments Contractor &amp; Worker Management System</dc:subject>
  <dc:creator>Manus</dc:creator>
  <cp:lastModifiedBy>Manus</cp:lastModifiedBy>
  <cp:revision>1</cp:revision>
  <dcterms:created xsi:type="dcterms:W3CDTF">2026-08-26T16:02:37Z</dcterms:created>
  <dcterms:modified xsi:type="dcterms:W3CDTF">2026-08-26T16:02:37Z</dcterms:modified>
</cp:coreProperties>
</file>